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781296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718537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4157597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97BD90-7E3D-428D-8A19-F0893F8A68C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3294578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97BD90-7E3D-428D-8A19-F0893F8A68CB}"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1474372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97BD90-7E3D-428D-8A19-F0893F8A68CB}"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1539194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97BD90-7E3D-428D-8A19-F0893F8A68CB}"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4227761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97BD90-7E3D-428D-8A19-F0893F8A68C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52433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97BD90-7E3D-428D-8A19-F0893F8A68CB}"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3496650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3812259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97BD90-7E3D-428D-8A19-F0893F8A68CB}"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D49F4B-2B6D-4577-BDD0-93258341D0A1}" type="slidenum">
              <a:rPr lang="en-US" smtClean="0"/>
              <a:t>‹#›</a:t>
            </a:fld>
            <a:endParaRPr lang="en-US"/>
          </a:p>
        </p:txBody>
      </p:sp>
    </p:spTree>
    <p:extLst>
      <p:ext uri="{BB962C8B-B14F-4D97-AF65-F5344CB8AC3E}">
        <p14:creationId xmlns:p14="http://schemas.microsoft.com/office/powerpoint/2010/main" val="2056362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97BD90-7E3D-428D-8A19-F0893F8A68CB}" type="datetimeFigureOut">
              <a:rPr lang="en-US" smtClean="0"/>
              <a:t>6/21/2026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D49F4B-2B6D-4577-BDD0-93258341D0A1}" type="slidenum">
              <a:rPr lang="en-US" smtClean="0"/>
              <a:t>‹#›</a:t>
            </a:fld>
            <a:endParaRPr lang="en-US"/>
          </a:p>
        </p:txBody>
      </p:sp>
    </p:spTree>
    <p:extLst>
      <p:ext uri="{BB962C8B-B14F-4D97-AF65-F5344CB8AC3E}">
        <p14:creationId xmlns:p14="http://schemas.microsoft.com/office/powerpoint/2010/main" val="2127476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streamlit.io/" TargetMode="External"/><Relationship Id="rId7" Type="http://schemas.openxmlformats.org/officeDocument/2006/relationships/hyperlink" Target="https://github.com/" TargetMode="External"/><Relationship Id="rId2" Type="http://schemas.openxmlformats.org/officeDocument/2006/relationships/hyperlink" Target="https://docs.python.org/3/" TargetMode="External"/><Relationship Id="rId1" Type="http://schemas.openxmlformats.org/officeDocument/2006/relationships/slideLayout" Target="../slideLayouts/slideLayout2.xml"/><Relationship Id="rId6" Type="http://schemas.openxmlformats.org/officeDocument/2006/relationships/hyperlink" Target="https://code.visualstudio.com/" TargetMode="External"/><Relationship Id="rId5" Type="http://schemas.openxmlformats.org/officeDocument/2006/relationships/hyperlink" Target="https://huggingface.co/models" TargetMode="External"/><Relationship Id="rId4" Type="http://schemas.openxmlformats.org/officeDocument/2006/relationships/hyperlink" Target="https://huggingface.co/docs"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i-interview-preparation-assistant-g2devvrpzkwhq2l8j6jyap.streamlit.app/" TargetMode="External"/><Relationship Id="rId2" Type="http://schemas.openxmlformats.org/officeDocument/2006/relationships/hyperlink" Target="https://github.com/suguna-44/AI-Interview-Preparation-Assistan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60763"/>
            <a:ext cx="9144000" cy="2468048"/>
          </a:xfrm>
        </p:spPr>
        <p:txBody>
          <a:bodyPr>
            <a:normAutofit fontScale="90000"/>
          </a:bodyPr>
          <a:lstStyle/>
          <a:p>
            <a:r>
              <a:rPr lang="en-US" sz="4000" b="1" dirty="0" smtClean="0">
                <a:solidFill>
                  <a:schemeClr val="accent1">
                    <a:lumMod val="75000"/>
                  </a:schemeClr>
                </a:solidFill>
              </a:rPr>
              <a:t>CAPSTONE</a:t>
            </a:r>
            <a:r>
              <a:rPr lang="en-US" sz="4000" b="1" dirty="0" smtClean="0"/>
              <a:t> </a:t>
            </a:r>
            <a:r>
              <a:rPr lang="en-US" sz="4000" b="1" dirty="0" smtClean="0">
                <a:solidFill>
                  <a:schemeClr val="accent1">
                    <a:lumMod val="75000"/>
                  </a:schemeClr>
                </a:solidFill>
              </a:rPr>
              <a:t>PROJECT</a:t>
            </a:r>
            <a:r>
              <a:rPr lang="en-US" sz="4000" b="1" dirty="0" smtClean="0"/>
              <a:t/>
            </a:r>
            <a:br>
              <a:rPr lang="en-US" sz="4000" b="1" dirty="0" smtClean="0"/>
            </a:br>
            <a:r>
              <a:rPr lang="en-US" b="1" dirty="0" smtClean="0"/>
              <a:t/>
            </a:r>
            <a:br>
              <a:rPr lang="en-US" b="1" dirty="0" smtClean="0"/>
            </a:br>
            <a:r>
              <a:rPr lang="en-US" sz="4000" b="1" dirty="0"/>
              <a:t>AI INTERVIEW PREPARATION ASSISTANT</a:t>
            </a:r>
            <a:r>
              <a:rPr lang="en-US" sz="4400" b="1" dirty="0" smtClean="0"/>
              <a:t/>
            </a:r>
            <a:br>
              <a:rPr lang="en-US" sz="4400" b="1" dirty="0" smtClean="0"/>
            </a:br>
            <a:r>
              <a:rPr lang="en-US" sz="4400" b="1" dirty="0" smtClean="0"/>
              <a:t/>
            </a:r>
            <a:br>
              <a:rPr lang="en-US" sz="4400" b="1" dirty="0" smtClean="0"/>
            </a:br>
            <a:endParaRPr lang="en-US" sz="4400" dirty="0"/>
          </a:p>
        </p:txBody>
      </p:sp>
      <p:sp>
        <p:nvSpPr>
          <p:cNvPr id="3" name="Subtitle 2"/>
          <p:cNvSpPr>
            <a:spLocks noGrp="1"/>
          </p:cNvSpPr>
          <p:nvPr>
            <p:ph type="subTitle" idx="1"/>
          </p:nvPr>
        </p:nvSpPr>
        <p:spPr>
          <a:xfrm>
            <a:off x="1305058" y="3968336"/>
            <a:ext cx="9144000" cy="1655762"/>
          </a:xfrm>
        </p:spPr>
        <p:txBody>
          <a:bodyPr>
            <a:normAutofit/>
          </a:bodyPr>
          <a:lstStyle/>
          <a:p>
            <a:endParaRPr lang="en-US" dirty="0"/>
          </a:p>
        </p:txBody>
      </p:sp>
      <p:sp>
        <p:nvSpPr>
          <p:cNvPr id="4" name="Rectangle 3"/>
          <p:cNvSpPr/>
          <p:nvPr/>
        </p:nvSpPr>
        <p:spPr>
          <a:xfrm>
            <a:off x="1408090" y="4196052"/>
            <a:ext cx="6096000" cy="1200329"/>
          </a:xfrm>
          <a:prstGeom prst="rect">
            <a:avLst/>
          </a:prstGeom>
        </p:spPr>
        <p:txBody>
          <a:bodyPr>
            <a:spAutoFit/>
          </a:bodyPr>
          <a:lstStyle/>
          <a:p>
            <a:r>
              <a:rPr lang="en-US" b="1" dirty="0" smtClean="0"/>
              <a:t>Presented By:</a:t>
            </a:r>
          </a:p>
          <a:p>
            <a:r>
              <a:rPr lang="en-US" b="1" dirty="0" smtClean="0"/>
              <a:t>Student Name:</a:t>
            </a:r>
            <a:r>
              <a:rPr lang="en-US" dirty="0" smtClean="0"/>
              <a:t> Neela </a:t>
            </a:r>
            <a:r>
              <a:rPr lang="en-US" dirty="0" err="1" smtClean="0"/>
              <a:t>Suguna</a:t>
            </a:r>
            <a:r>
              <a:rPr lang="en-US" dirty="0" smtClean="0"/>
              <a:t/>
            </a:r>
            <a:br>
              <a:rPr lang="en-US" dirty="0" smtClean="0"/>
            </a:br>
            <a:r>
              <a:rPr lang="en-US" b="1" dirty="0" smtClean="0"/>
              <a:t>College Name: </a:t>
            </a:r>
            <a:r>
              <a:rPr lang="en-US" dirty="0" smtClean="0"/>
              <a:t>A.V college of arts science &amp; commerce </a:t>
            </a:r>
            <a:br>
              <a:rPr lang="en-US" dirty="0" smtClean="0"/>
            </a:br>
            <a:r>
              <a:rPr lang="en-US" b="1" dirty="0" smtClean="0"/>
              <a:t>Department: </a:t>
            </a:r>
            <a:r>
              <a:rPr lang="en-US" dirty="0" smtClean="0"/>
              <a:t>Master Of Computer Applications </a:t>
            </a:r>
          </a:p>
        </p:txBody>
      </p:sp>
    </p:spTree>
    <p:extLst>
      <p:ext uri="{BB962C8B-B14F-4D97-AF65-F5344CB8AC3E}">
        <p14:creationId xmlns:p14="http://schemas.microsoft.com/office/powerpoint/2010/main" val="2469039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chemeClr val="accent1">
                    <a:lumMod val="75000"/>
                  </a:schemeClr>
                </a:solidFill>
              </a:rPr>
              <a:t>PROBLEM STATEMENT</a:t>
            </a:r>
          </a:p>
        </p:txBody>
      </p:sp>
      <p:sp>
        <p:nvSpPr>
          <p:cNvPr id="3" name="Content Placeholder 2"/>
          <p:cNvSpPr>
            <a:spLocks noGrp="1"/>
          </p:cNvSpPr>
          <p:nvPr>
            <p:ph idx="1"/>
          </p:nvPr>
        </p:nvSpPr>
        <p:spPr/>
        <p:txBody>
          <a:bodyPr>
            <a:normAutofit/>
          </a:bodyPr>
          <a:lstStyle/>
          <a:p>
            <a:pPr marL="0" indent="0">
              <a:buNone/>
            </a:pPr>
            <a:r>
              <a:rPr lang="en-US" sz="1600" dirty="0"/>
              <a:t>The interview preparation process can be challenging for students due to a lack of personalized guidance and instant feedback. Many candidates struggle to identify their strengths and weaknesses while practicing interview questions. The proposed AI Interview Preparation Assistant helps users prepare effectively by generating interview questions and evaluating answers automatically</a:t>
            </a:r>
            <a:r>
              <a:rPr lang="en-US" sz="1600" dirty="0" smtClean="0"/>
              <a:t>.</a:t>
            </a:r>
          </a:p>
          <a:p>
            <a:pPr marL="0" indent="0">
              <a:buNone/>
            </a:pPr>
            <a:r>
              <a:rPr lang="en-US" sz="1600" b="1" dirty="0"/>
              <a:t>Objective:</a:t>
            </a:r>
          </a:p>
          <a:p>
            <a:pPr marL="0" indent="0">
              <a:buNone/>
            </a:pPr>
            <a:r>
              <a:rPr lang="en-US" sz="1600" dirty="0"/>
              <a:t>• Develop an AI-based Interview Preparation Assistant that generates interview questions and evaluates candidate answers.</a:t>
            </a:r>
            <a:br>
              <a:rPr lang="en-US" sz="1600" dirty="0"/>
            </a:br>
            <a:r>
              <a:rPr lang="en-US" sz="1600" dirty="0"/>
              <a:t>• Provide instant feedback, strengths, weaknesses, and improvement suggestions to help users improve their interview performance</a:t>
            </a:r>
            <a:r>
              <a:rPr lang="en-US" sz="1600" dirty="0" smtClean="0"/>
              <a:t>.</a:t>
            </a:r>
          </a:p>
          <a:p>
            <a:pPr marL="0" indent="0">
              <a:buNone/>
            </a:pPr>
            <a:r>
              <a:rPr lang="en-US" sz="1600" b="1" dirty="0"/>
              <a:t>Key Challenges:</a:t>
            </a:r>
          </a:p>
          <a:p>
            <a:pPr marL="0" indent="0">
              <a:buNone/>
            </a:pPr>
            <a:r>
              <a:rPr lang="en-US" sz="1600" dirty="0"/>
              <a:t>• Lack of proper interview preparation resources.</a:t>
            </a:r>
            <a:br>
              <a:rPr lang="en-US" sz="1600" dirty="0"/>
            </a:br>
            <a:r>
              <a:rPr lang="en-US" sz="1600" dirty="0"/>
              <a:t>• Difficulty in evaluating answers without expert guidance.</a:t>
            </a:r>
            <a:br>
              <a:rPr lang="en-US" sz="1600" dirty="0"/>
            </a:br>
            <a:r>
              <a:rPr lang="en-US" sz="1600" dirty="0"/>
              <a:t>• Limited access to personalized feedback.</a:t>
            </a:r>
            <a:br>
              <a:rPr lang="en-US" sz="1600" dirty="0"/>
            </a:br>
            <a:r>
              <a:rPr lang="en-US" sz="1600" dirty="0"/>
              <a:t>• Lack of confidence in technical interviews.</a:t>
            </a:r>
            <a:br>
              <a:rPr lang="en-US" sz="1600" dirty="0"/>
            </a:br>
            <a:r>
              <a:rPr lang="en-US" sz="1600" dirty="0"/>
              <a:t>• Time-consuming manual interview practice.</a:t>
            </a:r>
            <a:br>
              <a:rPr lang="en-US" sz="1600" dirty="0"/>
            </a:br>
            <a:r>
              <a:rPr lang="en-US" sz="1600" dirty="0"/>
              <a:t>• Inability to identify areas that need improvement.</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651295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5945"/>
          </a:xfrm>
        </p:spPr>
        <p:txBody>
          <a:bodyPr>
            <a:normAutofit/>
          </a:bodyPr>
          <a:lstStyle/>
          <a:p>
            <a:r>
              <a:rPr lang="en-US" sz="2400" b="1" dirty="0">
                <a:solidFill>
                  <a:schemeClr val="accent1">
                    <a:lumMod val="75000"/>
                  </a:schemeClr>
                </a:solidFill>
              </a:rPr>
              <a:t>PROPOSED SOLUTION</a:t>
            </a:r>
          </a:p>
        </p:txBody>
      </p:sp>
      <p:sp>
        <p:nvSpPr>
          <p:cNvPr id="3" name="Content Placeholder 2"/>
          <p:cNvSpPr>
            <a:spLocks noGrp="1"/>
          </p:cNvSpPr>
          <p:nvPr>
            <p:ph idx="1"/>
          </p:nvPr>
        </p:nvSpPr>
        <p:spPr>
          <a:xfrm>
            <a:off x="838200" y="1481070"/>
            <a:ext cx="10515600" cy="4351338"/>
          </a:xfrm>
        </p:spPr>
        <p:txBody>
          <a:bodyPr>
            <a:noAutofit/>
          </a:bodyPr>
          <a:lstStyle/>
          <a:p>
            <a:pPr marL="0" indent="0">
              <a:lnSpc>
                <a:spcPct val="100000"/>
              </a:lnSpc>
              <a:buNone/>
            </a:pPr>
            <a:r>
              <a:rPr lang="en-US" sz="1600" dirty="0"/>
              <a:t>The proposed system is an </a:t>
            </a:r>
            <a:r>
              <a:rPr lang="en-US" sz="1600" b="1" dirty="0"/>
              <a:t>AI Interview Preparation Assistant</a:t>
            </a:r>
            <a:r>
              <a:rPr lang="en-US" sz="1600" dirty="0"/>
              <a:t> designed to help students and job seekers improve their interview skills through automated question generation and answer evaluation.</a:t>
            </a:r>
          </a:p>
          <a:p>
            <a:pPr marL="0" indent="0">
              <a:lnSpc>
                <a:spcPct val="100000"/>
              </a:lnSpc>
              <a:buNone/>
            </a:pPr>
            <a:r>
              <a:rPr lang="en-US" sz="1600" b="1" dirty="0"/>
              <a:t>Interview Question </a:t>
            </a:r>
            <a:r>
              <a:rPr lang="en-US" sz="1600" b="1" dirty="0" smtClean="0"/>
              <a:t>Generation</a:t>
            </a:r>
          </a:p>
          <a:p>
            <a:pPr marL="0" indent="0">
              <a:lnSpc>
                <a:spcPct val="100000"/>
              </a:lnSpc>
              <a:spcBef>
                <a:spcPts val="0"/>
              </a:spcBef>
              <a:buNone/>
            </a:pPr>
            <a:r>
              <a:rPr lang="en-US" sz="1600" dirty="0" smtClean="0"/>
              <a:t>• </a:t>
            </a:r>
            <a:r>
              <a:rPr lang="en-US" sz="1600" dirty="0"/>
              <a:t>Generate role-based interview questions.</a:t>
            </a:r>
            <a:br>
              <a:rPr lang="en-US" sz="1600" dirty="0"/>
            </a:br>
            <a:r>
              <a:rPr lang="en-US" sz="1600" dirty="0"/>
              <a:t>• Support multiple domains such as QA Testing, Java, Python, and Data Analytics.</a:t>
            </a:r>
            <a:br>
              <a:rPr lang="en-US" sz="1600" dirty="0"/>
            </a:br>
            <a:r>
              <a:rPr lang="en-US" sz="1600" dirty="0"/>
              <a:t>• Provide practice questions for technical interview </a:t>
            </a:r>
            <a:r>
              <a:rPr lang="en-US" sz="1600" dirty="0" smtClean="0"/>
              <a:t>preparation.</a:t>
            </a:r>
          </a:p>
          <a:p>
            <a:pPr marL="0" indent="0">
              <a:lnSpc>
                <a:spcPct val="100000"/>
              </a:lnSpc>
              <a:spcBef>
                <a:spcPts val="0"/>
              </a:spcBef>
              <a:buNone/>
            </a:pPr>
            <a:r>
              <a:rPr lang="en-US" sz="1600" b="1" dirty="0" smtClean="0"/>
              <a:t>Answer </a:t>
            </a:r>
            <a:r>
              <a:rPr lang="en-US" sz="1600" b="1" dirty="0"/>
              <a:t>Evaluation</a:t>
            </a:r>
          </a:p>
          <a:p>
            <a:pPr marL="0" indent="0">
              <a:lnSpc>
                <a:spcPct val="100000"/>
              </a:lnSpc>
              <a:spcBef>
                <a:spcPts val="0"/>
              </a:spcBef>
              <a:buNone/>
            </a:pPr>
            <a:r>
              <a:rPr lang="en-US" sz="1600" dirty="0"/>
              <a:t>• Analyze candidate responses automatically.</a:t>
            </a:r>
            <a:br>
              <a:rPr lang="en-US" sz="1600" dirty="0"/>
            </a:br>
            <a:r>
              <a:rPr lang="en-US" sz="1600" dirty="0"/>
              <a:t>• Generate scores based on answer quality.</a:t>
            </a:r>
            <a:br>
              <a:rPr lang="en-US" sz="1600" dirty="0"/>
            </a:br>
            <a:r>
              <a:rPr lang="en-US" sz="1600" dirty="0"/>
              <a:t>• Identify strengths and weaknesses in the response.</a:t>
            </a:r>
          </a:p>
          <a:p>
            <a:pPr marL="0" indent="0">
              <a:lnSpc>
                <a:spcPct val="100000"/>
              </a:lnSpc>
              <a:spcBef>
                <a:spcPts val="0"/>
              </a:spcBef>
              <a:buNone/>
            </a:pPr>
            <a:r>
              <a:rPr lang="en-US" sz="1600" b="1" dirty="0"/>
              <a:t>Feedback &amp; Suggestions</a:t>
            </a:r>
          </a:p>
          <a:p>
            <a:pPr marL="0" indent="0">
              <a:lnSpc>
                <a:spcPct val="100000"/>
              </a:lnSpc>
              <a:spcBef>
                <a:spcPts val="0"/>
              </a:spcBef>
              <a:buNone/>
            </a:pPr>
            <a:r>
              <a:rPr lang="en-US" sz="1600" dirty="0" smtClean="0"/>
              <a:t>• </a:t>
            </a:r>
            <a:r>
              <a:rPr lang="en-US" sz="1600" dirty="0"/>
              <a:t>Provide instant feedback to users.</a:t>
            </a:r>
            <a:br>
              <a:rPr lang="en-US" sz="1600" dirty="0"/>
            </a:br>
            <a:r>
              <a:rPr lang="en-US" sz="1600" dirty="0"/>
              <a:t>• Suggest improvements for better interview performance.</a:t>
            </a:r>
            <a:br>
              <a:rPr lang="en-US" sz="1600" dirty="0"/>
            </a:br>
            <a:r>
              <a:rPr lang="en-US" sz="1600" dirty="0"/>
              <a:t>• Help candidates improve communication and technical skills.</a:t>
            </a:r>
          </a:p>
          <a:p>
            <a:pPr marL="0" indent="0">
              <a:lnSpc>
                <a:spcPct val="100000"/>
              </a:lnSpc>
              <a:spcBef>
                <a:spcPts val="0"/>
              </a:spcBef>
              <a:buNone/>
            </a:pPr>
            <a:r>
              <a:rPr lang="en-US" sz="1600" b="1" dirty="0" smtClean="0"/>
              <a:t>Expected </a:t>
            </a:r>
            <a:r>
              <a:rPr lang="en-US" sz="1600" b="1" dirty="0"/>
              <a:t>Outcome</a:t>
            </a:r>
          </a:p>
          <a:p>
            <a:pPr marL="0" indent="0">
              <a:lnSpc>
                <a:spcPct val="100000"/>
              </a:lnSpc>
              <a:spcBef>
                <a:spcPts val="0"/>
              </a:spcBef>
              <a:buNone/>
            </a:pPr>
            <a:r>
              <a:rPr lang="en-US" sz="1600" dirty="0"/>
              <a:t>• Improve interview readiness and confidence.</a:t>
            </a:r>
            <a:br>
              <a:rPr lang="en-US" sz="1600" dirty="0"/>
            </a:br>
            <a:r>
              <a:rPr lang="en-US" sz="1600" dirty="0"/>
              <a:t>• Reduce dependency on manual evaluation.</a:t>
            </a:r>
            <a:br>
              <a:rPr lang="en-US" sz="1600" dirty="0"/>
            </a:br>
            <a:r>
              <a:rPr lang="en-US" sz="1600" dirty="0" smtClean="0"/>
              <a:t>.</a:t>
            </a:r>
            <a:endParaRPr lang="en-US" sz="1600" dirty="0"/>
          </a:p>
        </p:txBody>
      </p:sp>
    </p:spTree>
    <p:extLst>
      <p:ext uri="{BB962C8B-B14F-4D97-AF65-F5344CB8AC3E}">
        <p14:creationId xmlns:p14="http://schemas.microsoft.com/office/powerpoint/2010/main" val="3814196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06098"/>
          </a:xfrm>
        </p:spPr>
        <p:txBody>
          <a:bodyPr>
            <a:normAutofit/>
          </a:bodyPr>
          <a:lstStyle/>
          <a:p>
            <a:r>
              <a:rPr lang="en-US" sz="2400" b="1" dirty="0" smtClean="0">
                <a:solidFill>
                  <a:schemeClr val="accent1">
                    <a:lumMod val="75000"/>
                  </a:schemeClr>
                </a:solidFill>
              </a:rPr>
              <a:t>System approach </a:t>
            </a:r>
            <a:endParaRPr lang="en-US" sz="2400" b="1" dirty="0">
              <a:solidFill>
                <a:schemeClr val="accent1">
                  <a:lumMod val="75000"/>
                </a:schemeClr>
              </a:solidFill>
            </a:endParaRPr>
          </a:p>
        </p:txBody>
      </p:sp>
      <p:sp>
        <p:nvSpPr>
          <p:cNvPr id="3" name="Content Placeholder 2"/>
          <p:cNvSpPr>
            <a:spLocks noGrp="1"/>
          </p:cNvSpPr>
          <p:nvPr>
            <p:ph idx="1"/>
          </p:nvPr>
        </p:nvSpPr>
        <p:spPr/>
        <p:txBody>
          <a:bodyPr>
            <a:normAutofit/>
          </a:bodyPr>
          <a:lstStyle/>
          <a:p>
            <a:pPr marL="0" indent="0">
              <a:buNone/>
            </a:pPr>
            <a:r>
              <a:rPr lang="en-US" sz="1600" b="1" dirty="0"/>
              <a:t>System Requirements</a:t>
            </a:r>
          </a:p>
          <a:p>
            <a:pPr marL="0" indent="0">
              <a:buNone/>
            </a:pPr>
            <a:r>
              <a:rPr lang="en-US" sz="1600" dirty="0"/>
              <a:t>• Windows Operating System</a:t>
            </a:r>
            <a:br>
              <a:rPr lang="en-US" sz="1600" dirty="0"/>
            </a:br>
            <a:r>
              <a:rPr lang="en-US" sz="1600" dirty="0"/>
              <a:t>• Python 3.x</a:t>
            </a:r>
            <a:br>
              <a:rPr lang="en-US" sz="1600" dirty="0"/>
            </a:br>
            <a:r>
              <a:rPr lang="en-US" sz="1600" dirty="0"/>
              <a:t>• Visual Studio Code (VS Code)</a:t>
            </a:r>
            <a:br>
              <a:rPr lang="en-US" sz="1600" dirty="0"/>
            </a:br>
            <a:r>
              <a:rPr lang="en-US" sz="1600" dirty="0"/>
              <a:t>• Internet Connection</a:t>
            </a:r>
          </a:p>
          <a:p>
            <a:pPr marL="0" indent="0">
              <a:buNone/>
            </a:pPr>
            <a:r>
              <a:rPr lang="en-US" sz="1600" b="1" dirty="0"/>
              <a:t>Technologies Used</a:t>
            </a:r>
          </a:p>
          <a:p>
            <a:pPr marL="0" indent="0">
              <a:buNone/>
            </a:pPr>
            <a:r>
              <a:rPr lang="en-US" sz="1600" dirty="0"/>
              <a:t>• Python Programming Language</a:t>
            </a:r>
            <a:br>
              <a:rPr lang="en-US" sz="1600" dirty="0"/>
            </a:br>
            <a:r>
              <a:rPr lang="en-US" sz="1600" dirty="0"/>
              <a:t>• </a:t>
            </a:r>
            <a:r>
              <a:rPr lang="en-US" sz="1600" dirty="0" err="1"/>
              <a:t>Streamlit</a:t>
            </a:r>
            <a:r>
              <a:rPr lang="en-US" sz="1600" dirty="0"/>
              <a:t> Framework</a:t>
            </a:r>
            <a:br>
              <a:rPr lang="en-US" sz="1600" dirty="0"/>
            </a:br>
            <a:r>
              <a:rPr lang="en-US" sz="1600" dirty="0"/>
              <a:t>• </a:t>
            </a:r>
            <a:r>
              <a:rPr lang="en-US" sz="1600" dirty="0" err="1"/>
              <a:t>Git</a:t>
            </a:r>
            <a:r>
              <a:rPr lang="en-US" sz="1600" dirty="0"/>
              <a:t> &amp; </a:t>
            </a:r>
            <a:r>
              <a:rPr lang="en-US" sz="1600" dirty="0" err="1" smtClean="0"/>
              <a:t>GitHub</a:t>
            </a:r>
            <a:endParaRPr lang="en-US" sz="1600" dirty="0" smtClean="0"/>
          </a:p>
          <a:p>
            <a:pPr marL="0" indent="0">
              <a:buNone/>
            </a:pPr>
            <a:r>
              <a:rPr lang="en-US" sz="1600" b="1" dirty="0"/>
              <a:t>Libraries Required</a:t>
            </a:r>
          </a:p>
          <a:p>
            <a:pPr marL="0" indent="0">
              <a:buNone/>
            </a:pPr>
            <a:r>
              <a:rPr lang="en-US" sz="1600" dirty="0"/>
              <a:t>• </a:t>
            </a:r>
            <a:r>
              <a:rPr lang="en-US" sz="1600" dirty="0" err="1"/>
              <a:t>Streamlit</a:t>
            </a:r>
            <a:r>
              <a:rPr lang="en-US" sz="1600" dirty="0"/>
              <a:t/>
            </a:r>
            <a:br>
              <a:rPr lang="en-US" sz="1600" dirty="0"/>
            </a:br>
            <a:r>
              <a:rPr lang="en-US" sz="1600" dirty="0"/>
              <a:t>• Requests</a:t>
            </a:r>
            <a:br>
              <a:rPr lang="en-US" sz="1600" dirty="0"/>
            </a:br>
            <a:r>
              <a:rPr lang="en-US" sz="1600" dirty="0"/>
              <a:t>• Pandas</a:t>
            </a:r>
            <a:br>
              <a:rPr lang="en-US" sz="1600" dirty="0"/>
            </a:br>
            <a:r>
              <a:rPr lang="en-US" sz="1600" dirty="0"/>
              <a:t>• </a:t>
            </a:r>
            <a:r>
              <a:rPr lang="en-US" sz="1600" dirty="0" err="1"/>
              <a:t>NumPy</a:t>
            </a:r>
            <a:endParaRPr lang="en-US" sz="1600" dirty="0"/>
          </a:p>
          <a:p>
            <a:endParaRPr lang="en-US" sz="1600" dirty="0"/>
          </a:p>
        </p:txBody>
      </p:sp>
    </p:spTree>
    <p:extLst>
      <p:ext uri="{BB962C8B-B14F-4D97-AF65-F5344CB8AC3E}">
        <p14:creationId xmlns:p14="http://schemas.microsoft.com/office/powerpoint/2010/main" val="458862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9369"/>
            <a:ext cx="10515600" cy="575032"/>
          </a:xfrm>
        </p:spPr>
        <p:txBody>
          <a:bodyPr>
            <a:normAutofit/>
          </a:bodyPr>
          <a:lstStyle/>
          <a:p>
            <a:r>
              <a:rPr lang="en-US" sz="2400" b="1" dirty="0">
                <a:solidFill>
                  <a:schemeClr val="accent1">
                    <a:lumMod val="75000"/>
                  </a:schemeClr>
                </a:solidFill>
              </a:rPr>
              <a:t>ALGORITHM &amp; DEPLOYMENT</a:t>
            </a:r>
          </a:p>
        </p:txBody>
      </p:sp>
      <p:sp>
        <p:nvSpPr>
          <p:cNvPr id="3" name="Content Placeholder 2"/>
          <p:cNvSpPr>
            <a:spLocks noGrp="1"/>
          </p:cNvSpPr>
          <p:nvPr>
            <p:ph idx="1"/>
          </p:nvPr>
        </p:nvSpPr>
        <p:spPr>
          <a:xfrm>
            <a:off x="838200" y="1030311"/>
            <a:ext cx="10515600" cy="4726547"/>
          </a:xfrm>
        </p:spPr>
        <p:txBody>
          <a:bodyPr>
            <a:normAutofit fontScale="25000" lnSpcReduction="20000"/>
          </a:bodyPr>
          <a:lstStyle/>
          <a:p>
            <a:pPr marL="0" indent="0">
              <a:lnSpc>
                <a:spcPct val="120000"/>
              </a:lnSpc>
              <a:spcBef>
                <a:spcPts val="0"/>
              </a:spcBef>
              <a:buNone/>
            </a:pPr>
            <a:r>
              <a:rPr lang="en-US" sz="6400" b="1" dirty="0" smtClean="0"/>
              <a:t>Algorithm </a:t>
            </a:r>
            <a:r>
              <a:rPr lang="en-US" sz="6400" b="1" dirty="0"/>
              <a:t>Selection</a:t>
            </a:r>
          </a:p>
          <a:p>
            <a:pPr marL="0" indent="0">
              <a:lnSpc>
                <a:spcPct val="120000"/>
              </a:lnSpc>
              <a:spcBef>
                <a:spcPts val="0"/>
              </a:spcBef>
              <a:buNone/>
            </a:pPr>
            <a:r>
              <a:rPr lang="en-US" sz="6400" dirty="0"/>
              <a:t>• A rule-based answer evaluation algorithm is used to analyze user responses.</a:t>
            </a:r>
            <a:br>
              <a:rPr lang="en-US" sz="6400" dirty="0"/>
            </a:br>
            <a:r>
              <a:rPr lang="en-US" sz="6400" dirty="0"/>
              <a:t>• The system generates interview questions based on the selected job role.</a:t>
            </a:r>
          </a:p>
          <a:p>
            <a:pPr marL="0" indent="0">
              <a:lnSpc>
                <a:spcPct val="120000"/>
              </a:lnSpc>
              <a:spcBef>
                <a:spcPts val="0"/>
              </a:spcBef>
              <a:buNone/>
            </a:pPr>
            <a:r>
              <a:rPr lang="en-US" sz="6400" b="1" dirty="0"/>
              <a:t>Data Input</a:t>
            </a:r>
          </a:p>
          <a:p>
            <a:pPr marL="0" indent="0">
              <a:lnSpc>
                <a:spcPct val="120000"/>
              </a:lnSpc>
              <a:spcBef>
                <a:spcPts val="0"/>
              </a:spcBef>
              <a:buNone/>
            </a:pPr>
            <a:r>
              <a:rPr lang="en-US" sz="6400" dirty="0"/>
              <a:t>• Job Role Selection (QA Tester, Java Developer, Python Developer, Data Analyst)</a:t>
            </a:r>
            <a:br>
              <a:rPr lang="en-US" sz="6400" dirty="0"/>
            </a:br>
            <a:r>
              <a:rPr lang="en-US" sz="6400" dirty="0"/>
              <a:t>• Interview Question</a:t>
            </a:r>
            <a:br>
              <a:rPr lang="en-US" sz="6400" dirty="0"/>
            </a:br>
            <a:r>
              <a:rPr lang="en-US" sz="6400" dirty="0"/>
              <a:t>• Candidate Answer</a:t>
            </a:r>
          </a:p>
          <a:p>
            <a:pPr marL="0" indent="0">
              <a:lnSpc>
                <a:spcPct val="120000"/>
              </a:lnSpc>
              <a:spcBef>
                <a:spcPts val="0"/>
              </a:spcBef>
              <a:buNone/>
            </a:pPr>
            <a:r>
              <a:rPr lang="en-US" sz="6400" b="1" dirty="0" smtClean="0"/>
              <a:t>Processing</a:t>
            </a:r>
          </a:p>
          <a:p>
            <a:pPr marL="0" indent="0">
              <a:lnSpc>
                <a:spcPct val="120000"/>
              </a:lnSpc>
              <a:spcBef>
                <a:spcPts val="0"/>
              </a:spcBef>
              <a:buNone/>
            </a:pPr>
            <a:r>
              <a:rPr lang="en-US" sz="6400" dirty="0" smtClean="0"/>
              <a:t>• </a:t>
            </a:r>
            <a:r>
              <a:rPr lang="en-US" sz="6400" dirty="0"/>
              <a:t>User selects a job role.</a:t>
            </a:r>
            <a:br>
              <a:rPr lang="en-US" sz="6400" dirty="0"/>
            </a:br>
            <a:r>
              <a:rPr lang="en-US" sz="6400" dirty="0"/>
              <a:t>• System displays relevant interview questions</a:t>
            </a:r>
            <a:r>
              <a:rPr lang="en-US" sz="6400" dirty="0" smtClean="0"/>
              <a:t>.</a:t>
            </a:r>
          </a:p>
          <a:p>
            <a:pPr marL="0" indent="0">
              <a:lnSpc>
                <a:spcPct val="120000"/>
              </a:lnSpc>
              <a:spcBef>
                <a:spcPts val="0"/>
              </a:spcBef>
              <a:buNone/>
            </a:pPr>
            <a:r>
              <a:rPr lang="en-US" sz="6400" dirty="0" smtClean="0"/>
              <a:t>• </a:t>
            </a:r>
            <a:r>
              <a:rPr lang="en-US" sz="6400" dirty="0"/>
              <a:t>User enters the answer.</a:t>
            </a:r>
            <a:br>
              <a:rPr lang="en-US" sz="6400" dirty="0"/>
            </a:br>
            <a:r>
              <a:rPr lang="en-US" sz="6400" dirty="0"/>
              <a:t>• Answer evaluation module analyzes the response based on content quality and completeness.</a:t>
            </a:r>
          </a:p>
          <a:p>
            <a:pPr marL="0" indent="0">
              <a:lnSpc>
                <a:spcPct val="120000"/>
              </a:lnSpc>
              <a:spcBef>
                <a:spcPts val="0"/>
              </a:spcBef>
              <a:buNone/>
            </a:pPr>
            <a:r>
              <a:rPr lang="en-US" sz="6400" b="1" dirty="0"/>
              <a:t>Evaluation Process</a:t>
            </a:r>
          </a:p>
          <a:p>
            <a:pPr marL="0" indent="0">
              <a:lnSpc>
                <a:spcPct val="120000"/>
              </a:lnSpc>
              <a:spcBef>
                <a:spcPts val="0"/>
              </a:spcBef>
              <a:buNone/>
            </a:pPr>
            <a:r>
              <a:rPr lang="en-US" sz="6400" dirty="0"/>
              <a:t>• Generate score out of 10.</a:t>
            </a:r>
            <a:br>
              <a:rPr lang="en-US" sz="6400" dirty="0"/>
            </a:br>
            <a:r>
              <a:rPr lang="en-US" sz="6400" dirty="0"/>
              <a:t>• Identify strengths and weaknesses.</a:t>
            </a:r>
            <a:br>
              <a:rPr lang="en-US" sz="6400" dirty="0"/>
            </a:br>
            <a:r>
              <a:rPr lang="en-US" sz="6400" dirty="0"/>
              <a:t>• Provide improvement suggestions.</a:t>
            </a:r>
            <a:br>
              <a:rPr lang="en-US" sz="6400" dirty="0"/>
            </a:br>
            <a:r>
              <a:rPr lang="en-US" sz="6400" dirty="0"/>
              <a:t>• Display evaluation report to the user</a:t>
            </a:r>
            <a:r>
              <a:rPr lang="en-US" sz="6400" dirty="0" smtClean="0"/>
              <a:t>.</a:t>
            </a:r>
          </a:p>
          <a:p>
            <a:pPr marL="0" indent="0">
              <a:lnSpc>
                <a:spcPct val="120000"/>
              </a:lnSpc>
              <a:spcBef>
                <a:spcPts val="0"/>
              </a:spcBef>
              <a:buNone/>
            </a:pPr>
            <a:r>
              <a:rPr lang="en-US" sz="6400" b="1" dirty="0" smtClean="0"/>
              <a:t>Deployment</a:t>
            </a:r>
          </a:p>
          <a:p>
            <a:pPr marL="0" indent="0">
              <a:lnSpc>
                <a:spcPct val="120000"/>
              </a:lnSpc>
              <a:spcBef>
                <a:spcPts val="0"/>
              </a:spcBef>
              <a:buNone/>
            </a:pPr>
            <a:r>
              <a:rPr lang="en-US" sz="6400" dirty="0"/>
              <a:t>• Developed using Python and </a:t>
            </a:r>
            <a:r>
              <a:rPr lang="en-US" sz="6400" dirty="0" err="1"/>
              <a:t>Streamlit</a:t>
            </a:r>
            <a:r>
              <a:rPr lang="en-US" sz="6400" dirty="0"/>
              <a:t>.</a:t>
            </a:r>
            <a:br>
              <a:rPr lang="en-US" sz="6400" dirty="0"/>
            </a:br>
            <a:r>
              <a:rPr lang="en-US" sz="6400" dirty="0"/>
              <a:t>• Executed on Local Host environment.</a:t>
            </a:r>
            <a:br>
              <a:rPr lang="en-US" sz="6400" dirty="0"/>
            </a:br>
            <a:r>
              <a:rPr lang="en-US" sz="6400" dirty="0"/>
              <a:t>• Source code maintained using </a:t>
            </a:r>
            <a:r>
              <a:rPr lang="en-US" sz="6400" dirty="0" err="1"/>
              <a:t>GitHub</a:t>
            </a:r>
            <a:r>
              <a:rPr lang="en-US" sz="6400" dirty="0"/>
              <a:t> Repository.</a:t>
            </a:r>
            <a:br>
              <a:rPr lang="en-US" sz="6400" dirty="0"/>
            </a:br>
            <a:r>
              <a:rPr lang="en-US" sz="6400" dirty="0"/>
              <a:t>• Future deployment can be done through </a:t>
            </a:r>
            <a:r>
              <a:rPr lang="en-US" sz="6400" dirty="0" err="1"/>
              <a:t>Streamlit</a:t>
            </a:r>
            <a:r>
              <a:rPr lang="en-US" sz="6400" dirty="0"/>
              <a:t> Cloud or cloud platforms.</a:t>
            </a:r>
          </a:p>
          <a:p>
            <a:pPr marL="0" indent="0">
              <a:lnSpc>
                <a:spcPct val="120000"/>
              </a:lnSpc>
              <a:spcBef>
                <a:spcPts val="0"/>
              </a:spcBef>
              <a:buNone/>
            </a:pPr>
            <a:endParaRPr lang="en-US" sz="1600" dirty="0"/>
          </a:p>
          <a:p>
            <a:endParaRPr lang="en-US" sz="1600" dirty="0"/>
          </a:p>
        </p:txBody>
      </p:sp>
    </p:spTree>
    <p:extLst>
      <p:ext uri="{BB962C8B-B14F-4D97-AF65-F5344CB8AC3E}">
        <p14:creationId xmlns:p14="http://schemas.microsoft.com/office/powerpoint/2010/main" val="35622819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normAutofit/>
          </a:bodyPr>
          <a:lstStyle/>
          <a:p>
            <a:r>
              <a:rPr lang="en-US" sz="2400" b="1" dirty="0" smtClean="0">
                <a:solidFill>
                  <a:schemeClr val="accent1">
                    <a:lumMod val="75000"/>
                  </a:schemeClr>
                </a:solidFill>
              </a:rPr>
              <a:t>Workflow</a:t>
            </a:r>
            <a:endParaRPr lang="en-US" sz="2400" b="1" dirty="0">
              <a:solidFill>
                <a:schemeClr val="accent1">
                  <a:lumMod val="75000"/>
                </a:schemeClr>
              </a:solidFill>
            </a:endParaRPr>
          </a:p>
        </p:txBody>
      </p:sp>
      <p:sp>
        <p:nvSpPr>
          <p:cNvPr id="3" name="Content Placeholder 2"/>
          <p:cNvSpPr>
            <a:spLocks noGrp="1"/>
          </p:cNvSpPr>
          <p:nvPr>
            <p:ph idx="1"/>
          </p:nvPr>
        </p:nvSpPr>
        <p:spPr>
          <a:xfrm>
            <a:off x="838200" y="1619563"/>
            <a:ext cx="10515600" cy="4351338"/>
          </a:xfrm>
        </p:spPr>
        <p:txBody>
          <a:bodyPr>
            <a:normAutofit/>
          </a:bodyPr>
          <a:lstStyle/>
          <a:p>
            <a:pPr marL="0" indent="0">
              <a:buNone/>
            </a:pPr>
            <a:r>
              <a:rPr lang="en-US" sz="1600" dirty="0" smtClean="0"/>
              <a:t> </a:t>
            </a:r>
          </a:p>
          <a:p>
            <a:pPr marL="0" indent="0">
              <a:buNone/>
            </a:pPr>
            <a:endParaRPr lang="en-US" sz="1600" dirty="0"/>
          </a:p>
        </p:txBody>
      </p:sp>
      <p:sp>
        <p:nvSpPr>
          <p:cNvPr id="4" name="AutoShape 2" descr="Process flow for user evaluation"/>
          <p:cNvSpPr>
            <a:spLocks noChangeAspect="1" noChangeArrowheads="1"/>
          </p:cNvSpPr>
          <p:nvPr/>
        </p:nvSpPr>
        <p:spPr bwMode="auto">
          <a:xfrm>
            <a:off x="4637423" y="510029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Process flow for user evaluatio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3729463" y="1467440"/>
            <a:ext cx="3103722" cy="4655584"/>
          </a:xfrm>
          <a:prstGeom prst="rect">
            <a:avLst/>
          </a:prstGeom>
        </p:spPr>
      </p:pic>
    </p:spTree>
    <p:extLst>
      <p:ext uri="{BB962C8B-B14F-4D97-AF65-F5344CB8AC3E}">
        <p14:creationId xmlns:p14="http://schemas.microsoft.com/office/powerpoint/2010/main" val="255726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731"/>
          </a:xfrm>
        </p:spPr>
        <p:txBody>
          <a:bodyPr>
            <a:normAutofit/>
          </a:bodyPr>
          <a:lstStyle/>
          <a:p>
            <a:r>
              <a:rPr lang="en-US" sz="2400" b="1" dirty="0" smtClean="0">
                <a:solidFill>
                  <a:schemeClr val="accent1">
                    <a:lumMod val="75000"/>
                  </a:schemeClr>
                </a:solidFill>
              </a:rPr>
              <a:t>Result</a:t>
            </a:r>
            <a:endParaRPr lang="en-US" sz="2400" b="1" dirty="0">
              <a:solidFill>
                <a:schemeClr val="accent1">
                  <a:lumMod val="75000"/>
                </a:schemeClr>
              </a:solidFill>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27174" y="1558344"/>
            <a:ext cx="5392626" cy="3966693"/>
          </a:xfrm>
          <a:prstGeom prst="rect">
            <a:avLst/>
          </a:prstGeo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75231" y="1558344"/>
            <a:ext cx="5181600" cy="3966693"/>
          </a:xfrm>
          <a:prstGeom prst="rect">
            <a:avLst/>
          </a:prstGeom>
        </p:spPr>
      </p:pic>
      <p:sp>
        <p:nvSpPr>
          <p:cNvPr id="8" name="Rectangle 7"/>
          <p:cNvSpPr/>
          <p:nvPr/>
        </p:nvSpPr>
        <p:spPr>
          <a:xfrm>
            <a:off x="627174" y="5713859"/>
            <a:ext cx="5392626" cy="369332"/>
          </a:xfrm>
          <a:prstGeom prst="rect">
            <a:avLst/>
          </a:prstGeom>
        </p:spPr>
        <p:txBody>
          <a:bodyPr wrap="square">
            <a:spAutoFit/>
          </a:bodyPr>
          <a:lstStyle/>
          <a:p>
            <a:pPr marL="285750" indent="-285750" algn="ctr">
              <a:buFont typeface="Arial" panose="020B0604020202020204" pitchFamily="34" charset="0"/>
              <a:buChar char="•"/>
            </a:pPr>
            <a:r>
              <a:rPr lang="en-US" b="1" dirty="0"/>
              <a:t>Interview Questions Generation</a:t>
            </a:r>
          </a:p>
        </p:txBody>
      </p:sp>
      <p:sp>
        <p:nvSpPr>
          <p:cNvPr id="9" name="Rectangle 8"/>
          <p:cNvSpPr/>
          <p:nvPr/>
        </p:nvSpPr>
        <p:spPr>
          <a:xfrm>
            <a:off x="7604221" y="5713859"/>
            <a:ext cx="3188275" cy="369332"/>
          </a:xfrm>
          <a:prstGeom prst="rect">
            <a:avLst/>
          </a:prstGeom>
        </p:spPr>
        <p:txBody>
          <a:bodyPr wrap="square">
            <a:spAutoFit/>
          </a:bodyPr>
          <a:lstStyle/>
          <a:p>
            <a:pPr marL="285750" indent="-285750">
              <a:buFont typeface="Arial" panose="020B0604020202020204" pitchFamily="34" charset="0"/>
              <a:buChar char="•"/>
            </a:pPr>
            <a:r>
              <a:rPr lang="en-US" b="1" dirty="0"/>
              <a:t>Answer Evaluation Interface</a:t>
            </a:r>
          </a:p>
        </p:txBody>
      </p:sp>
    </p:spTree>
    <p:extLst>
      <p:ext uri="{BB962C8B-B14F-4D97-AF65-F5344CB8AC3E}">
        <p14:creationId xmlns:p14="http://schemas.microsoft.com/office/powerpoint/2010/main" val="2938873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0941" y="1249465"/>
            <a:ext cx="6390661" cy="3592993"/>
          </a:xfrm>
          <a:prstGeom prst="rect">
            <a:avLst/>
          </a:prstGeom>
        </p:spPr>
      </p:pic>
      <p:sp>
        <p:nvSpPr>
          <p:cNvPr id="8" name="Rectangle 7"/>
          <p:cNvSpPr/>
          <p:nvPr/>
        </p:nvSpPr>
        <p:spPr>
          <a:xfrm>
            <a:off x="6331389" y="5047377"/>
            <a:ext cx="3614451" cy="369332"/>
          </a:xfrm>
          <a:prstGeom prst="rect">
            <a:avLst/>
          </a:prstGeom>
        </p:spPr>
        <p:txBody>
          <a:bodyPr wrap="none">
            <a:spAutoFit/>
          </a:bodyPr>
          <a:lstStyle/>
          <a:p>
            <a:pPr marL="285750" indent="-285750">
              <a:buFont typeface="Arial" panose="020B0604020202020204" pitchFamily="34" charset="0"/>
              <a:buChar char="•"/>
            </a:pPr>
            <a:r>
              <a:rPr lang="en-US" b="1" dirty="0"/>
              <a:t>Evaluation Report with Feedback</a:t>
            </a:r>
          </a:p>
        </p:txBody>
      </p:sp>
      <p:sp>
        <p:nvSpPr>
          <p:cNvPr id="9" name="Rectangle 8"/>
          <p:cNvSpPr/>
          <p:nvPr/>
        </p:nvSpPr>
        <p:spPr>
          <a:xfrm>
            <a:off x="746976" y="1249465"/>
            <a:ext cx="3863661" cy="2862322"/>
          </a:xfrm>
          <a:prstGeom prst="rect">
            <a:avLst/>
          </a:prstGeom>
        </p:spPr>
        <p:txBody>
          <a:bodyPr wrap="square">
            <a:spAutoFit/>
          </a:bodyPr>
          <a:lstStyle/>
          <a:p>
            <a:pPr marL="285750" indent="-285750">
              <a:buFont typeface="Arial" panose="020B0604020202020204" pitchFamily="34" charset="0"/>
              <a:buChar char="•"/>
            </a:pPr>
            <a:r>
              <a:rPr lang="en-US" dirty="0"/>
              <a:t>Successfully generated role-based interview questions</a:t>
            </a:r>
            <a:r>
              <a:rPr lang="en-US" dirty="0" smtClean="0"/>
              <a:t>.</a:t>
            </a:r>
          </a:p>
          <a:p>
            <a:pPr marL="285750" indent="-285750">
              <a:buFont typeface="Arial" panose="020B0604020202020204" pitchFamily="34" charset="0"/>
              <a:buChar char="•"/>
            </a:pPr>
            <a:r>
              <a:rPr lang="en-US" dirty="0" smtClean="0"/>
              <a:t> </a:t>
            </a:r>
            <a:r>
              <a:rPr lang="en-US" dirty="0"/>
              <a:t>Evaluated candidate answers automatically</a:t>
            </a:r>
            <a:r>
              <a:rPr lang="en-US" dirty="0" smtClean="0"/>
              <a:t>.</a:t>
            </a:r>
          </a:p>
          <a:p>
            <a:pPr marL="285750" indent="-285750">
              <a:buFont typeface="Arial" panose="020B0604020202020204" pitchFamily="34" charset="0"/>
              <a:buChar char="•"/>
            </a:pPr>
            <a:r>
              <a:rPr lang="en-US" dirty="0" smtClean="0"/>
              <a:t> </a:t>
            </a:r>
            <a:r>
              <a:rPr lang="en-US" dirty="0"/>
              <a:t>Generated score and feedback</a:t>
            </a:r>
            <a:r>
              <a:rPr lang="en-US" dirty="0" smtClean="0"/>
              <a:t>.</a:t>
            </a:r>
          </a:p>
          <a:p>
            <a:pPr marL="285750" indent="-285750">
              <a:buFont typeface="Arial" panose="020B0604020202020204" pitchFamily="34" charset="0"/>
              <a:buChar char="•"/>
            </a:pPr>
            <a:r>
              <a:rPr lang="en-US" dirty="0" smtClean="0"/>
              <a:t> </a:t>
            </a:r>
            <a:r>
              <a:rPr lang="en-US" dirty="0"/>
              <a:t>Identified strengths and weaknesses</a:t>
            </a:r>
            <a:r>
              <a:rPr lang="en-US" dirty="0" smtClean="0"/>
              <a:t>.</a:t>
            </a:r>
          </a:p>
          <a:p>
            <a:pPr marL="285750" indent="-285750">
              <a:buFont typeface="Arial" panose="020B0604020202020204" pitchFamily="34" charset="0"/>
              <a:buChar char="•"/>
            </a:pPr>
            <a:r>
              <a:rPr lang="en-US" dirty="0" smtClean="0"/>
              <a:t> </a:t>
            </a:r>
            <a:r>
              <a:rPr lang="en-US" dirty="0"/>
              <a:t>Provided improvement suggestions</a:t>
            </a:r>
            <a:r>
              <a:rPr lang="en-US" dirty="0" smtClean="0"/>
              <a:t>.</a:t>
            </a:r>
          </a:p>
          <a:p>
            <a:pPr marL="285750" indent="-285750">
              <a:buFont typeface="Arial" panose="020B0604020202020204" pitchFamily="34" charset="0"/>
              <a:buChar char="•"/>
            </a:pPr>
            <a:r>
              <a:rPr lang="en-US" dirty="0" smtClean="0"/>
              <a:t> </a:t>
            </a:r>
            <a:r>
              <a:rPr lang="en-US" dirty="0"/>
              <a:t>Developed a user-friendly </a:t>
            </a:r>
            <a:r>
              <a:rPr lang="en-US" dirty="0" err="1"/>
              <a:t>Streamlit</a:t>
            </a:r>
            <a:r>
              <a:rPr lang="en-US" dirty="0"/>
              <a:t> application.</a:t>
            </a:r>
          </a:p>
        </p:txBody>
      </p:sp>
    </p:spTree>
    <p:extLst>
      <p:ext uri="{BB962C8B-B14F-4D97-AF65-F5344CB8AC3E}">
        <p14:creationId xmlns:p14="http://schemas.microsoft.com/office/powerpoint/2010/main" val="176409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70492"/>
          </a:xfrm>
        </p:spPr>
        <p:txBody>
          <a:bodyPr>
            <a:normAutofit/>
          </a:bodyPr>
          <a:lstStyle/>
          <a:p>
            <a:r>
              <a:rPr lang="en-US" sz="2400" b="1" dirty="0" smtClean="0">
                <a:solidFill>
                  <a:schemeClr val="accent1">
                    <a:lumMod val="75000"/>
                  </a:schemeClr>
                </a:solidFill>
              </a:rPr>
              <a:t>Conclusion</a:t>
            </a:r>
            <a:endParaRPr lang="en-US" sz="2400" b="1" dirty="0">
              <a:solidFill>
                <a:schemeClr val="accent1">
                  <a:lumMod val="75000"/>
                </a:schemeClr>
              </a:solidFill>
            </a:endParaRPr>
          </a:p>
        </p:txBody>
      </p:sp>
      <p:sp>
        <p:nvSpPr>
          <p:cNvPr id="3" name="Content Placeholder 2"/>
          <p:cNvSpPr>
            <a:spLocks noGrp="1"/>
          </p:cNvSpPr>
          <p:nvPr>
            <p:ph idx="1"/>
          </p:nvPr>
        </p:nvSpPr>
        <p:spPr>
          <a:xfrm>
            <a:off x="838200" y="1635617"/>
            <a:ext cx="10515600" cy="4351338"/>
          </a:xfrm>
        </p:spPr>
        <p:txBody>
          <a:bodyPr>
            <a:normAutofit/>
          </a:bodyPr>
          <a:lstStyle/>
          <a:p>
            <a:r>
              <a:rPr lang="en-US" sz="1700" dirty="0" smtClean="0"/>
              <a:t> </a:t>
            </a:r>
            <a:r>
              <a:rPr lang="en-US" sz="1700" dirty="0"/>
              <a:t>The AI Interview Preparation Assistant was successfully developed using Python and </a:t>
            </a:r>
            <a:r>
              <a:rPr lang="en-US" sz="1700" dirty="0" err="1"/>
              <a:t>Streamlit</a:t>
            </a:r>
            <a:r>
              <a:rPr lang="en-US" sz="1700" dirty="0"/>
              <a:t>.</a:t>
            </a:r>
          </a:p>
          <a:p>
            <a:r>
              <a:rPr lang="en-US" sz="1700" dirty="0" smtClean="0"/>
              <a:t> </a:t>
            </a:r>
            <a:r>
              <a:rPr lang="en-US" sz="1700" dirty="0"/>
              <a:t>The system generates role-based interview questions for various job profiles such as QA Tester, Java Developer, Python Developer, and Data Analyst.</a:t>
            </a:r>
          </a:p>
          <a:p>
            <a:r>
              <a:rPr lang="en-US" sz="1700" dirty="0" smtClean="0"/>
              <a:t> </a:t>
            </a:r>
            <a:r>
              <a:rPr lang="en-US" sz="1700" dirty="0"/>
              <a:t>It enables users to practice interview questions and evaluate their answers effectively.</a:t>
            </a:r>
          </a:p>
          <a:p>
            <a:r>
              <a:rPr lang="en-US" sz="1700" dirty="0" smtClean="0"/>
              <a:t> </a:t>
            </a:r>
            <a:r>
              <a:rPr lang="en-US" sz="1700" dirty="0"/>
              <a:t>The application provides scores, strengths, weaknesses, and improvement suggestions to enhance interview performance.</a:t>
            </a:r>
          </a:p>
          <a:p>
            <a:r>
              <a:rPr lang="en-US" sz="1700" dirty="0" smtClean="0"/>
              <a:t> </a:t>
            </a:r>
            <a:r>
              <a:rPr lang="en-US" sz="1700" dirty="0"/>
              <a:t>The project offers a simple, interactive, and user-friendly platform for interview preparation.</a:t>
            </a:r>
          </a:p>
          <a:p>
            <a:r>
              <a:rPr lang="en-US" sz="1700" dirty="0" smtClean="0"/>
              <a:t> </a:t>
            </a:r>
            <a:r>
              <a:rPr lang="en-US" sz="1700" dirty="0"/>
              <a:t>This solution helps candidates improve their technical knowledge, communication skills, and confidence before attending interviews.</a:t>
            </a:r>
          </a:p>
          <a:p>
            <a:pPr marL="0" indent="0">
              <a:buNone/>
            </a:pPr>
            <a:endParaRPr lang="en-US" dirty="0"/>
          </a:p>
        </p:txBody>
      </p:sp>
    </p:spTree>
    <p:extLst>
      <p:ext uri="{BB962C8B-B14F-4D97-AF65-F5344CB8AC3E}">
        <p14:creationId xmlns:p14="http://schemas.microsoft.com/office/powerpoint/2010/main" val="3482832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chemeClr val="accent1">
                    <a:lumMod val="75000"/>
                  </a:schemeClr>
                </a:solidFill>
              </a:rPr>
              <a:t>Future Scope</a:t>
            </a:r>
            <a:endParaRPr lang="en-US" sz="2400" b="1" dirty="0">
              <a:solidFill>
                <a:schemeClr val="accent1">
                  <a:lumMod val="75000"/>
                </a:schemeClr>
              </a:solidFill>
            </a:endParaRPr>
          </a:p>
        </p:txBody>
      </p:sp>
      <p:sp>
        <p:nvSpPr>
          <p:cNvPr id="3" name="Content Placeholder 2"/>
          <p:cNvSpPr>
            <a:spLocks noGrp="1"/>
          </p:cNvSpPr>
          <p:nvPr>
            <p:ph idx="1"/>
          </p:nvPr>
        </p:nvSpPr>
        <p:spPr/>
        <p:txBody>
          <a:bodyPr>
            <a:normAutofit/>
          </a:bodyPr>
          <a:lstStyle/>
          <a:p>
            <a:r>
              <a:rPr lang="en-US" sz="1600" dirty="0" smtClean="0"/>
              <a:t> </a:t>
            </a:r>
            <a:r>
              <a:rPr lang="en-US" sz="1600" dirty="0"/>
              <a:t>Integrate advanced AI models such as </a:t>
            </a:r>
            <a:r>
              <a:rPr lang="en-US" sz="1600" b="1" dirty="0"/>
              <a:t>Gemini AI, IBM Granite, or </a:t>
            </a:r>
            <a:r>
              <a:rPr lang="en-US" sz="1600" b="1" dirty="0" err="1"/>
              <a:t>OpenAI</a:t>
            </a:r>
            <a:r>
              <a:rPr lang="en-US" sz="1600" b="1" dirty="0"/>
              <a:t> GPT</a:t>
            </a:r>
            <a:r>
              <a:rPr lang="en-US" sz="1600" dirty="0"/>
              <a:t> for more accurate answer evaluation.</a:t>
            </a:r>
          </a:p>
          <a:p>
            <a:r>
              <a:rPr lang="en-US" sz="1600" dirty="0" smtClean="0"/>
              <a:t> </a:t>
            </a:r>
            <a:r>
              <a:rPr lang="en-US" sz="1600" dirty="0"/>
              <a:t>Add </a:t>
            </a:r>
            <a:r>
              <a:rPr lang="en-US" sz="1600" b="1" dirty="0"/>
              <a:t>mock interview simulations</a:t>
            </a:r>
            <a:r>
              <a:rPr lang="en-US" sz="1600" dirty="0"/>
              <a:t> with real-time AI-generated questions and responses.</a:t>
            </a:r>
          </a:p>
          <a:p>
            <a:r>
              <a:rPr lang="en-US" sz="1600" dirty="0" smtClean="0"/>
              <a:t> </a:t>
            </a:r>
            <a:r>
              <a:rPr lang="en-US" sz="1600" dirty="0"/>
              <a:t>Implement </a:t>
            </a:r>
            <a:r>
              <a:rPr lang="en-US" sz="1600" b="1" dirty="0"/>
              <a:t>speech-to-text and voice-based interviews</a:t>
            </a:r>
            <a:r>
              <a:rPr lang="en-US" sz="1600" dirty="0"/>
              <a:t> to improve communication skills.</a:t>
            </a:r>
          </a:p>
          <a:p>
            <a:r>
              <a:rPr lang="en-US" sz="1600" dirty="0" smtClean="0"/>
              <a:t>Provide </a:t>
            </a:r>
            <a:r>
              <a:rPr lang="en-US" sz="1600" b="1" dirty="0"/>
              <a:t>personalized learning recommendations</a:t>
            </a:r>
            <a:r>
              <a:rPr lang="en-US" sz="1600" dirty="0"/>
              <a:t> based on user performance.</a:t>
            </a:r>
          </a:p>
          <a:p>
            <a:r>
              <a:rPr lang="en-US" sz="1600" dirty="0" smtClean="0"/>
              <a:t> </a:t>
            </a:r>
            <a:r>
              <a:rPr lang="en-US" sz="1600" dirty="0"/>
              <a:t>Generate detailed </a:t>
            </a:r>
            <a:r>
              <a:rPr lang="en-US" sz="1600" b="1" dirty="0"/>
              <a:t>performance analytics and progress reports</a:t>
            </a:r>
            <a:r>
              <a:rPr lang="en-US" sz="1600" dirty="0"/>
              <a:t>.</a:t>
            </a:r>
          </a:p>
          <a:p>
            <a:r>
              <a:rPr lang="en-US" sz="1600" dirty="0" smtClean="0"/>
              <a:t> </a:t>
            </a:r>
            <a:r>
              <a:rPr lang="en-US" sz="1600" dirty="0"/>
              <a:t>Support additional job roles and technical domains for broader interview preparation.</a:t>
            </a:r>
          </a:p>
          <a:p>
            <a:r>
              <a:rPr lang="en-US" sz="1600" dirty="0" smtClean="0"/>
              <a:t> </a:t>
            </a:r>
            <a:r>
              <a:rPr lang="en-US" sz="1600" dirty="0"/>
              <a:t>Deploy the application on cloud platforms for easy online access.</a:t>
            </a:r>
          </a:p>
          <a:p>
            <a:r>
              <a:rPr lang="en-US" sz="1600" dirty="0" smtClean="0"/>
              <a:t>Add </a:t>
            </a:r>
            <a:r>
              <a:rPr lang="en-US" sz="1600" b="1" dirty="0"/>
              <a:t>resume analysis and interview question generation</a:t>
            </a:r>
            <a:r>
              <a:rPr lang="en-US" sz="1600" dirty="0"/>
              <a:t> based on uploaded resumes.</a:t>
            </a:r>
          </a:p>
          <a:p>
            <a:r>
              <a:rPr lang="en-US" sz="1600" dirty="0" smtClean="0"/>
              <a:t> </a:t>
            </a:r>
            <a:r>
              <a:rPr lang="en-US" sz="1600" dirty="0"/>
              <a:t>Integrate </a:t>
            </a:r>
            <a:r>
              <a:rPr lang="en-US" sz="1600" b="1" dirty="0"/>
              <a:t>certification and placement preparation modules</a:t>
            </a:r>
            <a:r>
              <a:rPr lang="en-US" sz="1600" dirty="0"/>
              <a:t> to enhance career readiness.</a:t>
            </a:r>
          </a:p>
        </p:txBody>
      </p:sp>
    </p:spTree>
    <p:extLst>
      <p:ext uri="{BB962C8B-B14F-4D97-AF65-F5344CB8AC3E}">
        <p14:creationId xmlns:p14="http://schemas.microsoft.com/office/powerpoint/2010/main" val="132623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3669"/>
          </a:xfrm>
        </p:spPr>
        <p:txBody>
          <a:bodyPr>
            <a:normAutofit/>
          </a:bodyPr>
          <a:lstStyle/>
          <a:p>
            <a:r>
              <a:rPr lang="en-US" sz="2400" b="1" dirty="0" smtClean="0">
                <a:solidFill>
                  <a:schemeClr val="accent1">
                    <a:lumMod val="75000"/>
                  </a:schemeClr>
                </a:solidFill>
              </a:rPr>
              <a:t>References</a:t>
            </a:r>
            <a:endParaRPr lang="en-US" sz="2400" b="1" dirty="0">
              <a:solidFill>
                <a:schemeClr val="accent1">
                  <a:lumMod val="75000"/>
                </a:schemeClr>
              </a:solidFill>
            </a:endParaRPr>
          </a:p>
        </p:txBody>
      </p:sp>
      <p:sp>
        <p:nvSpPr>
          <p:cNvPr id="4" name="Rectangle 1"/>
          <p:cNvSpPr>
            <a:spLocks noGrp="1" noChangeArrowheads="1"/>
          </p:cNvSpPr>
          <p:nvPr>
            <p:ph idx="1"/>
          </p:nvPr>
        </p:nvSpPr>
        <p:spPr bwMode="auto">
          <a:xfrm>
            <a:off x="838200" y="1262129"/>
            <a:ext cx="866640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 Python Documentation</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2"/>
              </a:rPr>
              <a:t>https://docs.python.org/3/</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 </a:t>
            </a:r>
            <a:r>
              <a:rPr kumimoji="0" lang="en-US" sz="1800" b="0" i="0" u="none" strike="noStrike" cap="none" normalizeH="0" baseline="0" dirty="0" err="1" smtClean="0">
                <a:ln>
                  <a:noFill/>
                </a:ln>
                <a:solidFill>
                  <a:schemeClr val="tx1"/>
                </a:solidFill>
                <a:effectLst/>
                <a:latin typeface="Arial" panose="020B0604020202020204" pitchFamily="34" charset="0"/>
              </a:rPr>
              <a:t>Streamlit</a:t>
            </a:r>
            <a:r>
              <a:rPr kumimoji="0" lang="en-US" sz="1800" b="0" i="0" u="none" strike="noStrike" cap="none" normalizeH="0" baseline="0" dirty="0" smtClean="0">
                <a:ln>
                  <a:noFill/>
                </a:ln>
                <a:solidFill>
                  <a:schemeClr val="tx1"/>
                </a:solidFill>
                <a:effectLst/>
                <a:latin typeface="Arial" panose="020B0604020202020204" pitchFamily="34" charset="0"/>
              </a:rPr>
              <a:t> Documentation</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3"/>
              </a:rPr>
              <a:t>https://docs.streamlit.io/</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a:t>
            </a:r>
          </a:p>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Hugging Face Documentation</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4"/>
              </a:rPr>
              <a:t>https://huggingface.co/docs</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 Hugging Face Models</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5"/>
              </a:rPr>
              <a:t>https://huggingface.co/models</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0" i="0" u="none" strike="noStrike" cap="none" normalizeH="0" baseline="0" dirty="0" smtClean="0">
                <a:ln>
                  <a:noFill/>
                </a:ln>
                <a:solidFill>
                  <a:schemeClr val="tx1"/>
                </a:solidFill>
                <a:effectLst/>
                <a:latin typeface="Arial" panose="020B0604020202020204" pitchFamily="34" charset="0"/>
              </a:rPr>
              <a:t>Visual Studio Code</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6"/>
              </a:rPr>
              <a:t>https://code.visualstudio.com/</a:t>
            </a:r>
            <a:r>
              <a:rPr kumimoji="0" 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sz="1800" b="0" i="0" u="none" strike="noStrike" cap="none" normalizeH="0" baseline="0" dirty="0" err="1" smtClean="0">
                <a:ln>
                  <a:noFill/>
                </a:ln>
                <a:solidFill>
                  <a:schemeClr val="tx1"/>
                </a:solidFill>
                <a:effectLst/>
                <a:latin typeface="Arial" panose="020B0604020202020204" pitchFamily="34" charset="0"/>
              </a:rPr>
              <a:t>GitHub</a:t>
            </a:r>
            <a:r>
              <a:rPr kumimoji="0" lang="en-US" sz="1800" b="0" i="0" u="none" strike="noStrike" cap="none" normalizeH="0" baseline="0" dirty="0" smtClean="0">
                <a:ln>
                  <a:noFill/>
                </a:ln>
                <a:solidFill>
                  <a:schemeClr val="tx1"/>
                </a:solidFill>
                <a:effectLst/>
                <a:latin typeface="Arial" panose="020B0604020202020204" pitchFamily="34" charset="0"/>
              </a:rPr>
              <a:t/>
            </a:r>
            <a:br>
              <a:rPr kumimoji="0" lang="en-US" sz="1800" b="0" i="0" u="none" strike="noStrike" cap="none" normalizeH="0" baseline="0" dirty="0" smtClean="0">
                <a:ln>
                  <a:noFill/>
                </a:ln>
                <a:solidFill>
                  <a:schemeClr val="tx1"/>
                </a:solidFill>
                <a:effectLst/>
                <a:latin typeface="Arial" panose="020B0604020202020204" pitchFamily="34" charset="0"/>
              </a:rPr>
            </a:br>
            <a:r>
              <a:rPr kumimoji="0" lang="en-US" sz="1800" b="0" i="0" u="none" strike="noStrike" cap="none" normalizeH="0" baseline="0" dirty="0" smtClean="0">
                <a:ln>
                  <a:noFill/>
                </a:ln>
                <a:solidFill>
                  <a:schemeClr val="tx1"/>
                </a:solidFill>
                <a:effectLst/>
                <a:latin typeface="Arial" panose="020B0604020202020204" pitchFamily="34" charset="0"/>
                <a:hlinkClick r:id="rId7"/>
              </a:rPr>
              <a:t>https://github.com/</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40425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err="1" smtClean="0">
                <a:solidFill>
                  <a:schemeClr val="accent1">
                    <a:lumMod val="75000"/>
                  </a:schemeClr>
                </a:solidFill>
              </a:rPr>
              <a:t>GitHub</a:t>
            </a:r>
            <a:r>
              <a:rPr lang="en-US" sz="2400" b="1" dirty="0" smtClean="0">
                <a:solidFill>
                  <a:schemeClr val="accent1">
                    <a:lumMod val="75000"/>
                  </a:schemeClr>
                </a:solidFill>
              </a:rPr>
              <a:t> </a:t>
            </a:r>
            <a:r>
              <a:rPr lang="en-US" sz="2400" b="1" dirty="0" smtClean="0">
                <a:solidFill>
                  <a:schemeClr val="accent1">
                    <a:lumMod val="75000"/>
                  </a:schemeClr>
                </a:solidFill>
              </a:rPr>
              <a:t>Link </a:t>
            </a:r>
            <a:r>
              <a:rPr lang="en-US" sz="2400" b="1" dirty="0" smtClean="0">
                <a:solidFill>
                  <a:schemeClr val="accent1">
                    <a:lumMod val="75000"/>
                  </a:schemeClr>
                </a:solidFill>
              </a:rPr>
              <a:t>/Deployment Link</a:t>
            </a:r>
            <a:endParaRPr lang="en-US" sz="2400" b="1" dirty="0">
              <a:solidFill>
                <a:schemeClr val="accent1">
                  <a:lumMod val="75000"/>
                </a:schemeClr>
              </a:solidFill>
            </a:endParaRPr>
          </a:p>
        </p:txBody>
      </p:sp>
      <p:sp>
        <p:nvSpPr>
          <p:cNvPr id="3" name="Content Placeholder 2"/>
          <p:cNvSpPr>
            <a:spLocks noGrp="1"/>
          </p:cNvSpPr>
          <p:nvPr>
            <p:ph idx="1"/>
          </p:nvPr>
        </p:nvSpPr>
        <p:spPr>
          <a:xfrm>
            <a:off x="838200" y="1825625"/>
            <a:ext cx="10515600" cy="4351338"/>
          </a:xfrm>
        </p:spPr>
        <p:txBody>
          <a:bodyPr>
            <a:normAutofit/>
          </a:bodyPr>
          <a:lstStyle/>
          <a:p>
            <a:r>
              <a:rPr lang="en-US" sz="1600" dirty="0" err="1" smtClean="0"/>
              <a:t>GitHub</a:t>
            </a:r>
            <a:r>
              <a:rPr lang="en-US" sz="1600" dirty="0" smtClean="0"/>
              <a:t> </a:t>
            </a:r>
            <a:r>
              <a:rPr lang="en-US" sz="1600" dirty="0"/>
              <a:t>Link </a:t>
            </a:r>
            <a:r>
              <a:rPr lang="en-US" sz="1600" dirty="0" smtClean="0"/>
              <a:t>: </a:t>
            </a:r>
            <a:r>
              <a:rPr lang="en-US" sz="1600" dirty="0" smtClean="0">
                <a:hlinkClick r:id="rId2"/>
              </a:rPr>
              <a:t>https</a:t>
            </a:r>
            <a:r>
              <a:rPr lang="en-US" sz="1600" dirty="0">
                <a:hlinkClick r:id="rId2"/>
              </a:rPr>
              <a:t>://</a:t>
            </a:r>
            <a:r>
              <a:rPr lang="en-US" sz="1600" dirty="0" smtClean="0">
                <a:hlinkClick r:id="rId2"/>
              </a:rPr>
              <a:t>github.com/suguna-44/AI-Interview-Preparation-Assistant</a:t>
            </a:r>
            <a:endParaRPr lang="en-US" sz="1600" dirty="0"/>
          </a:p>
          <a:p>
            <a:r>
              <a:rPr lang="en-US" sz="1600" dirty="0" smtClean="0"/>
              <a:t>Deployment Link</a:t>
            </a:r>
            <a:r>
              <a:rPr lang="en-US" sz="1600" dirty="0"/>
              <a:t>: </a:t>
            </a:r>
            <a:r>
              <a:rPr lang="en-US" sz="1600" dirty="0">
                <a:hlinkClick r:id="rId3"/>
              </a:rPr>
              <a:t>https://ai-interview-preparation-assistant-g2devvrpzkwhq2l8j6jyap.streamlit.app</a:t>
            </a:r>
            <a:r>
              <a:rPr lang="en-US" sz="1600" dirty="0" smtClean="0">
                <a:hlinkClick r:id="rId3"/>
              </a:rPr>
              <a:t>/</a:t>
            </a:r>
            <a:endParaRPr lang="en-US" sz="1600" dirty="0" smtClean="0"/>
          </a:p>
          <a:p>
            <a:pPr marL="0" indent="0">
              <a:buNone/>
            </a:pPr>
            <a:endParaRPr lang="en-US" sz="1600" dirty="0"/>
          </a:p>
        </p:txBody>
      </p:sp>
    </p:spTree>
    <p:extLst>
      <p:ext uri="{BB962C8B-B14F-4D97-AF65-F5344CB8AC3E}">
        <p14:creationId xmlns:p14="http://schemas.microsoft.com/office/powerpoint/2010/main" val="253695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8809" y="2953778"/>
            <a:ext cx="9439141" cy="1325563"/>
          </a:xfrm>
        </p:spPr>
        <p:txBody>
          <a:bodyPr>
            <a:normAutofit/>
          </a:bodyPr>
          <a:lstStyle/>
          <a:p>
            <a:pPr algn="ctr"/>
            <a:r>
              <a:rPr lang="en-US" sz="4800" b="1" dirty="0" smtClean="0">
                <a:solidFill>
                  <a:schemeClr val="accent1">
                    <a:lumMod val="75000"/>
                  </a:schemeClr>
                </a:solidFill>
                <a:latin typeface="+mn-lt"/>
              </a:rPr>
              <a:t>THANK YOU!</a:t>
            </a:r>
            <a:endParaRPr lang="en-US" sz="4800" b="1" dirty="0">
              <a:solidFill>
                <a:schemeClr val="accent1">
                  <a:lumMod val="75000"/>
                </a:schemeClr>
              </a:solidFill>
              <a:latin typeface="+mn-lt"/>
            </a:endParaRPr>
          </a:p>
        </p:txBody>
      </p:sp>
    </p:spTree>
    <p:extLst>
      <p:ext uri="{BB962C8B-B14F-4D97-AF65-F5344CB8AC3E}">
        <p14:creationId xmlns:p14="http://schemas.microsoft.com/office/powerpoint/2010/main" val="2496017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444</Words>
  <Application>Microsoft Office PowerPoint</Application>
  <PresentationFormat>Widescreen</PresentationFormat>
  <Paragraphs>83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CAPSTONE PROJECT  AI INTERVIEW PREPARATION ASSISTANT  </vt:lpstr>
      <vt:lpstr>PROBLEM STATEMENT</vt:lpstr>
      <vt:lpstr>PROPOSED SOLUTION</vt:lpstr>
      <vt:lpstr>System approach </vt:lpstr>
      <vt:lpstr>ALGORITHM &amp; DEPLOYMENT</vt:lpstr>
      <vt:lpstr>Workflow</vt:lpstr>
      <vt:lpstr>Result</vt:lpstr>
      <vt:lpstr>PowerPoint Presentation</vt:lpstr>
      <vt:lpstr>Conclusion</vt:lpstr>
      <vt:lpstr>Future Scope</vt:lpstr>
      <vt:lpstr>References</vt:lpstr>
      <vt:lpstr>GitHub Link /Deployment Link</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AI Resume &amp; Portfolio Builder</dc:title>
  <dc:creator>Microsoft account</dc:creator>
  <cp:lastModifiedBy>Microsoft account</cp:lastModifiedBy>
  <cp:revision>39</cp:revision>
  <dcterms:created xsi:type="dcterms:W3CDTF">2026-06-14T14:04:35Z</dcterms:created>
  <dcterms:modified xsi:type="dcterms:W3CDTF">2026-06-21T10:29:25Z</dcterms:modified>
</cp:coreProperties>
</file>